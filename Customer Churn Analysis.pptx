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E3A8A"/>
    <a:srgbClr val="10B981"/>
    <a:srgbClr val="6B72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490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19B43B-6C1D-7F7E-7997-BC3F17D03A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806832D-5974-CADE-30A2-36025C1B2A4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D20CF5-2D6A-DDDC-AB59-ABC435AAF0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7C3966-7FCF-4AF7-9B0A-54121F2FC18D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66CB7B-8077-86AE-89B8-E2F62FABA7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8BBD28-64C2-BD62-BBBB-E027EEBA90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53FA3B-F82A-4B0C-A3D6-C26F3F2316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90377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49E2C2-7281-D2C4-764F-54D2A2B59B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F949EA-2C48-F741-0848-D84D7E3B6B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09178C-D0F8-94FB-500F-0743214841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7C3966-7FCF-4AF7-9B0A-54121F2FC18D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496454-B8EC-5CD3-AA3B-8079603E25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E1D963-926B-6B8D-B58C-2848863B40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53FA3B-F82A-4B0C-A3D6-C26F3F2316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62098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478B5A-32EA-7647-5E8F-CDC91BE49C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DA1C23-5117-D94F-ED90-968E55FE95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99CEBB-C526-C656-1293-A4A67BBD3B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7C3966-7FCF-4AF7-9B0A-54121F2FC18D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BD8F10-1DFE-6194-FBA2-402F8ACAB7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9518B1-7B07-5739-C919-F2000BB11C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53FA3B-F82A-4B0C-A3D6-C26F3F2316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28896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2D4855-B054-A42E-A2A9-9191DF678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F8544A-4EAD-E3E5-9E00-AD957B59C17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4B2DC55-A090-FA1E-3EDE-E669C4952D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DC192C-DFCE-3487-BD83-D0575451EF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7C3966-7FCF-4AF7-9B0A-54121F2FC18D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506FCF-EDE0-EA0A-2672-429E9921CE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A56ED2-17A1-4A18-8D98-DD7BDD35F7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53FA3B-F82A-4B0C-A3D6-C26F3F2316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06451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3A6528-62D9-9C82-832F-D266FCA79E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AA0D35-A906-7838-0C82-DC9871B831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8AC9EA4-0332-C618-8D55-9539916AC0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BF3C050-1574-501F-6685-2EF01576C90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C37A342-1258-340D-73ED-564496AE6A6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F563E97-1262-9FEF-E4A0-BBDB336F65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7C3966-7FCF-4AF7-9B0A-54121F2FC18D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D5A655F-273E-5549-0C8D-3637C44998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DAB9306-ED76-7F77-E51E-574BFB21F4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53FA3B-F82A-4B0C-A3D6-C26F3F2316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69058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589C74-3AD6-7740-60A7-580574CD56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0BB6658-17D7-7C3E-362E-4BF4CCF8C8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7C3966-7FCF-4AF7-9B0A-54121F2FC18D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C1A63C8-B6E0-E288-221A-9B81768DDD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15B9E9B-5BAA-F6E9-C32B-3BFD61DD0B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53FA3B-F82A-4B0C-A3D6-C26F3F2316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6090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B23AA04-3D3F-1A7F-22A6-2B10369278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7C3966-7FCF-4AF7-9B0A-54121F2FC18D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D3047BF-70D8-A64C-8D07-1771D48722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CADE14-8124-CBA8-AB26-6D36422FCE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53FA3B-F82A-4B0C-A3D6-C26F3F2316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04960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F3B0F7-84C3-1C10-2D35-E3EFAAEF05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D19EDC-C4C4-6515-5E39-84D024BDDA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835503D-8D4F-5C9B-A2CC-4E7409E258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266515F-A0BC-6A00-4FC4-E2E35AD42F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7C3966-7FCF-4AF7-9B0A-54121F2FC18D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CBEDAA-681E-0117-2A31-D8892E48D2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2A2F04-72AC-D37C-FA24-544B1227D6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53FA3B-F82A-4B0C-A3D6-C26F3F2316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67678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751955-72A6-E0D0-B363-B32DA3936A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3B4F85C-F1C5-4453-ED8F-FF30A1AB41D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7A28B4F-9B0E-DB5D-11FA-8E1FB6E8EC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FDA5C8-335E-02EC-4E0E-2B1C9C34B7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7C3966-7FCF-4AF7-9B0A-54121F2FC18D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0FA5DC7-979A-6D98-3E56-58D569440A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64A036-43AE-D255-37F7-F1CB57729E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53FA3B-F82A-4B0C-A3D6-C26F3F2316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69484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1D1DF0-AC3C-A6F1-39C3-9DB311F64A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9138490-1573-BF92-20E4-DFB2C64113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34B9D1-944F-9FBC-9D7A-A6D5BC1324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7C3966-7FCF-4AF7-9B0A-54121F2FC18D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BEFAC1-9543-B717-AFEB-93FD77E27A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3813B7-FB0E-AB61-FE59-62889EF660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53FA3B-F82A-4B0C-A3D6-C26F3F2316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22532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E1CFA02-FD92-769A-3446-A8A8E3D1ABD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164E4AF-D28D-5E3A-4841-7E8FB7DB0CF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170229-28F9-CB39-BFCF-E0D91AED8E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7C3966-7FCF-4AF7-9B0A-54121F2FC18D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84801D-743E-4907-51CE-E9E7BECCDB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B1F39A-869A-E6C9-9D33-5932C3858D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53FA3B-F82A-4B0C-A3D6-C26F3F2316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87488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477ECF4-D5D2-A3A6-14F9-E8007157DD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1D155F-1D93-335A-5EB4-CCEF947F7E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C1D498-21DD-1E13-FF76-4332849775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7C3966-7FCF-4AF7-9B0A-54121F2FC18D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9343AA-8C88-E68A-CAEF-2BE192604AB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6798F7-9FC9-AE95-EBFD-5EA747E8F4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653FA3B-F82A-4B0C-A3D6-C26F3F2316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25769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0D5AFB-3C97-C969-AAA9-5B13CEE90D3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3200" b="1" dirty="0">
                <a:solidFill>
                  <a:srgbClr val="1E3A8A"/>
                </a:solidFill>
              </a:rPr>
              <a:t>Customer Churn Analysis Dashboard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05DEBCF-5EDF-5D83-C7DC-F1D051C77C8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2000" dirty="0">
                <a:solidFill>
                  <a:srgbClr val="6B7280"/>
                </a:solidFill>
              </a:rPr>
              <a:t>IBM Telco Customer Churn Dataset</a:t>
            </a:r>
            <a:endParaRPr lang="en-US" sz="2000" b="1" dirty="0">
              <a:solidFill>
                <a:srgbClr val="6B728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0A1114A-3BF2-43A5-B010-0B514DA6ABDE}"/>
              </a:ext>
            </a:extLst>
          </p:cNvPr>
          <p:cNvSpPr txBox="1"/>
          <p:nvPr/>
        </p:nvSpPr>
        <p:spPr>
          <a:xfrm>
            <a:off x="0" y="6334780"/>
            <a:ext cx="258588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Prepared by:</a:t>
            </a:r>
            <a:b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</a:br>
            <a:r>
              <a:rPr lang="en-US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Damilola Owolabi</a:t>
            </a:r>
            <a:endParaRPr lang="en-US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5432170-03BE-142D-7DA0-9FB6DB066224}"/>
              </a:ext>
            </a:extLst>
          </p:cNvPr>
          <p:cNvSpPr txBox="1"/>
          <p:nvPr/>
        </p:nvSpPr>
        <p:spPr>
          <a:xfrm>
            <a:off x="10166556" y="6334780"/>
            <a:ext cx="45326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AnalystLab</a:t>
            </a:r>
            <a:r>
              <a:rPr lang="en-US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Africa</a:t>
            </a:r>
            <a:b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</a:br>
            <a:r>
              <a:rPr lang="en-US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Data Analytics Internship</a:t>
            </a:r>
            <a:endParaRPr lang="en-US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551529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4D63EC-110C-74E4-CCC8-036B467857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>
                <a:solidFill>
                  <a:srgbClr val="1E3A8A"/>
                </a:solidFill>
              </a:rPr>
              <a:t>Business Problem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B79CDF1-49CB-1360-E0E7-50D8F2925EAB}"/>
              </a:ext>
            </a:extLst>
          </p:cNvPr>
          <p:cNvSpPr txBox="1"/>
          <p:nvPr/>
        </p:nvSpPr>
        <p:spPr>
          <a:xfrm>
            <a:off x="344129" y="1435510"/>
            <a:ext cx="10235381" cy="30162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company is experiencing customer churn and wants to understand why customers are leaving. This project examines customer </a:t>
            </a:r>
            <a:r>
              <a:rPr lang="en-US" dirty="0" err="1"/>
              <a:t>behaviour</a:t>
            </a:r>
            <a:r>
              <a:rPr lang="en-US" dirty="0"/>
              <a:t> to identify the main factors associated with churn and recommend practical actions that can improve customer retention.</a:t>
            </a:r>
          </a:p>
          <a:p>
            <a:endParaRPr lang="en-US" dirty="0"/>
          </a:p>
          <a:p>
            <a:r>
              <a:rPr lang="en-US" sz="2000" b="1" dirty="0">
                <a:solidFill>
                  <a:srgbClr val="1E3A8A"/>
                </a:solidFill>
              </a:rPr>
              <a:t>Key Questions</a:t>
            </a:r>
            <a:endParaRPr lang="en-US" sz="2000" dirty="0">
              <a:solidFill>
                <a:srgbClr val="1E3A8A"/>
              </a:solidFill>
            </a:endParaRPr>
          </a:p>
          <a:p>
            <a:r>
              <a:rPr lang="en-US" sz="2000" dirty="0">
                <a:solidFill>
                  <a:srgbClr val="1E3A8A"/>
                </a:solidFill>
              </a:rPr>
              <a:t>• Why are customers leaving?</a:t>
            </a:r>
          </a:p>
          <a:p>
            <a:r>
              <a:rPr lang="en-US" sz="2000" dirty="0">
                <a:solidFill>
                  <a:srgbClr val="1E3A8A"/>
                </a:solidFill>
              </a:rPr>
              <a:t>• Which customers are most likely to churn?</a:t>
            </a:r>
          </a:p>
          <a:p>
            <a:r>
              <a:rPr lang="en-US" sz="2000" dirty="0">
                <a:solidFill>
                  <a:srgbClr val="1E3A8A"/>
                </a:solidFill>
              </a:rPr>
              <a:t>• Which factors contribute most to churn?</a:t>
            </a:r>
          </a:p>
          <a:p>
            <a:r>
              <a:rPr lang="en-US" sz="2000" dirty="0">
                <a:solidFill>
                  <a:srgbClr val="1E3A8A"/>
                </a:solidFill>
              </a:rPr>
              <a:t>• What actions can improve customer retention?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85571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E53BB1-2879-DAB6-E2B1-F930C2A2E0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 dirty="0">
                <a:solidFill>
                  <a:srgbClr val="1E3A8A"/>
                </a:solidFill>
              </a:rPr>
              <a:t>Dataset Overview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7E42FAF-289C-56E3-E5F5-3FD398CA8C20}"/>
              </a:ext>
            </a:extLst>
          </p:cNvPr>
          <p:cNvSpPr txBox="1"/>
          <p:nvPr/>
        </p:nvSpPr>
        <p:spPr>
          <a:xfrm>
            <a:off x="442452" y="1838632"/>
            <a:ext cx="9901083" cy="40010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1E3A8A"/>
                </a:solidFill>
              </a:rPr>
              <a:t>Dataset</a:t>
            </a:r>
          </a:p>
          <a:p>
            <a:r>
              <a:rPr lang="en-US" dirty="0"/>
              <a:t>IBM Telco Customer Churn Dataset</a:t>
            </a:r>
          </a:p>
          <a:p>
            <a:endParaRPr lang="en-US" dirty="0"/>
          </a:p>
          <a:p>
            <a:r>
              <a:rPr lang="en-US" b="1" dirty="0"/>
              <a:t>Overview</a:t>
            </a:r>
          </a:p>
          <a:p>
            <a:pPr lvl="0"/>
            <a:r>
              <a:rPr lang="en-US" dirty="0"/>
              <a:t>Total Customers: </a:t>
            </a:r>
            <a:r>
              <a:rPr lang="en-US" b="1" dirty="0"/>
              <a:t>7,043</a:t>
            </a:r>
            <a:r>
              <a:rPr lang="en-US" dirty="0"/>
              <a:t> </a:t>
            </a:r>
          </a:p>
          <a:p>
            <a:pPr lvl="0"/>
            <a:r>
              <a:rPr lang="en-US" dirty="0"/>
              <a:t>Duplicate Customer IDs: </a:t>
            </a:r>
            <a:r>
              <a:rPr lang="en-US" b="1" dirty="0"/>
              <a:t>0</a:t>
            </a:r>
            <a:r>
              <a:rPr lang="en-US" dirty="0"/>
              <a:t> </a:t>
            </a:r>
          </a:p>
          <a:p>
            <a:pPr lvl="0"/>
            <a:r>
              <a:rPr lang="en-US" dirty="0"/>
              <a:t>Missing Values: </a:t>
            </a:r>
            <a:r>
              <a:rPr lang="en-US" b="1" dirty="0"/>
              <a:t>11 (Total Charges)</a:t>
            </a:r>
            <a:r>
              <a:rPr lang="en-US" dirty="0"/>
              <a:t> </a:t>
            </a:r>
          </a:p>
          <a:p>
            <a:pPr lvl="0"/>
            <a:r>
              <a:rPr lang="en-US" dirty="0"/>
              <a:t>Tool Used: </a:t>
            </a:r>
            <a:r>
              <a:rPr lang="en-US" b="1" dirty="0"/>
              <a:t>Microsoft Power BI</a:t>
            </a:r>
            <a:r>
              <a:rPr lang="en-US" dirty="0"/>
              <a:t> </a:t>
            </a:r>
          </a:p>
          <a:p>
            <a:r>
              <a:rPr lang="en-US" b="1" dirty="0"/>
              <a:t>Data Preparation</a:t>
            </a:r>
          </a:p>
          <a:p>
            <a:pPr lvl="0"/>
            <a:r>
              <a:rPr lang="en-US" dirty="0"/>
              <a:t>Checked for duplicates. </a:t>
            </a:r>
          </a:p>
          <a:p>
            <a:pPr lvl="0"/>
            <a:r>
              <a:rPr lang="en-US" dirty="0"/>
              <a:t>Replaced blank Total Charges values with </a:t>
            </a:r>
            <a:r>
              <a:rPr lang="en-US" b="1" dirty="0"/>
              <a:t>0</a:t>
            </a:r>
            <a:r>
              <a:rPr lang="en-US" dirty="0"/>
              <a:t>. </a:t>
            </a:r>
          </a:p>
          <a:p>
            <a:pPr lvl="0"/>
            <a:r>
              <a:rPr lang="en-US" dirty="0"/>
              <a:t>Verified data types. </a:t>
            </a:r>
          </a:p>
          <a:p>
            <a:pPr lvl="0"/>
            <a:r>
              <a:rPr lang="en-US" dirty="0"/>
              <a:t>Created DAX measures. </a:t>
            </a:r>
          </a:p>
          <a:p>
            <a:pPr lvl="0"/>
            <a:r>
              <a:rPr lang="en-US" dirty="0"/>
              <a:t>Created Tenure Groups. </a:t>
            </a:r>
          </a:p>
        </p:txBody>
      </p:sp>
    </p:spTree>
    <p:extLst>
      <p:ext uri="{BB962C8B-B14F-4D97-AF65-F5344CB8AC3E}">
        <p14:creationId xmlns:p14="http://schemas.microsoft.com/office/powerpoint/2010/main" val="23478766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A7E6BF-8660-6552-910E-E176F878B2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>
                <a:solidFill>
                  <a:srgbClr val="1E3A8A"/>
                </a:solidFill>
              </a:rPr>
              <a:t>Customer Churn Dashboard</a:t>
            </a:r>
            <a:br>
              <a:rPr lang="en-US" dirty="0"/>
            </a:b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8C4E257-8826-0985-02F7-8EA140E362F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2532" y="1170038"/>
            <a:ext cx="11426935" cy="498495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6C2F97D-2319-98BB-CA3B-03A575C931D2}"/>
              </a:ext>
            </a:extLst>
          </p:cNvPr>
          <p:cNvSpPr txBox="1"/>
          <p:nvPr/>
        </p:nvSpPr>
        <p:spPr>
          <a:xfrm>
            <a:off x="93404" y="6085008"/>
            <a:ext cx="46113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Figure 1. Interactive Power BI Customer Churn Dashboard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13F441B-D2C9-81B3-557C-13C05CFB8F9D}"/>
              </a:ext>
            </a:extLst>
          </p:cNvPr>
          <p:cNvSpPr txBox="1"/>
          <p:nvPr/>
        </p:nvSpPr>
        <p:spPr>
          <a:xfrm>
            <a:off x="0" y="6519446"/>
            <a:ext cx="1300316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The dashboard provides an interactive summary of customer churn and highlights the key factors influencing customer retention.</a:t>
            </a:r>
          </a:p>
        </p:txBody>
      </p:sp>
    </p:spTree>
    <p:extLst>
      <p:ext uri="{BB962C8B-B14F-4D97-AF65-F5344CB8AC3E}">
        <p14:creationId xmlns:p14="http://schemas.microsoft.com/office/powerpoint/2010/main" val="11408925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1D9CC5-0448-3EA8-C6C1-77FBD141D0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>
                <a:solidFill>
                  <a:srgbClr val="1E3A8A"/>
                </a:solidFill>
              </a:rPr>
              <a:t>Key Findings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9753D16-D568-8648-511A-B1E597F19EC2}"/>
              </a:ext>
            </a:extLst>
          </p:cNvPr>
          <p:cNvSpPr txBox="1"/>
          <p:nvPr/>
        </p:nvSpPr>
        <p:spPr>
          <a:xfrm>
            <a:off x="467032" y="1592366"/>
            <a:ext cx="8283677" cy="29578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50000"/>
              </a:lnSpc>
            </a:pPr>
            <a:r>
              <a:rPr lang="en-US" b="1" dirty="0"/>
              <a:t>Key Findings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Overall customer churn rate was </a:t>
            </a:r>
            <a:r>
              <a:rPr lang="en-US" b="1" dirty="0"/>
              <a:t>26.5%</a:t>
            </a:r>
            <a:r>
              <a:rPr lang="en-US" dirty="0"/>
              <a:t>.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Month-to-Month</a:t>
            </a:r>
            <a:r>
              <a:rPr lang="en-US" dirty="0"/>
              <a:t> customers recorded the highest churn.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Customers with </a:t>
            </a:r>
            <a:r>
              <a:rPr lang="en-US" b="1" dirty="0"/>
              <a:t>0–12 months</a:t>
            </a:r>
            <a:r>
              <a:rPr lang="en-US" dirty="0"/>
              <a:t> tenure were the most likely to leave.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Fiber Optic</a:t>
            </a:r>
            <a:r>
              <a:rPr lang="en-US" dirty="0"/>
              <a:t> customers had the highest churn among internet service types.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Customers using </a:t>
            </a:r>
            <a:r>
              <a:rPr lang="en-US" b="1" dirty="0"/>
              <a:t>Electronic Check</a:t>
            </a:r>
            <a:r>
              <a:rPr lang="en-US" dirty="0"/>
              <a:t> had the highest churn.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Customers without </a:t>
            </a:r>
            <a:r>
              <a:rPr lang="en-US" b="1" dirty="0"/>
              <a:t>Tech Support</a:t>
            </a:r>
            <a:r>
              <a:rPr lang="en-US" dirty="0"/>
              <a:t> were significantly more likely to churn. </a:t>
            </a:r>
          </a:p>
        </p:txBody>
      </p:sp>
    </p:spTree>
    <p:extLst>
      <p:ext uri="{BB962C8B-B14F-4D97-AF65-F5344CB8AC3E}">
        <p14:creationId xmlns:p14="http://schemas.microsoft.com/office/powerpoint/2010/main" val="25796448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AA4F0D-DEA4-7D39-21F0-CB005366C7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>
                <a:solidFill>
                  <a:srgbClr val="1E3A8A"/>
                </a:solidFill>
              </a:rPr>
              <a:t>Recommendations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BDB2E2F-AB32-60BB-ED79-EEE165AFEBFE}"/>
              </a:ext>
            </a:extLst>
          </p:cNvPr>
          <p:cNvSpPr txBox="1"/>
          <p:nvPr/>
        </p:nvSpPr>
        <p:spPr>
          <a:xfrm>
            <a:off x="828367" y="1396316"/>
            <a:ext cx="9026013" cy="25423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/>
              <a:t>Recommendations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Introduce retention offers for </a:t>
            </a:r>
            <a:r>
              <a:rPr lang="en-US" b="1" dirty="0"/>
              <a:t>Month-to-Month</a:t>
            </a:r>
            <a:r>
              <a:rPr lang="en-US" dirty="0"/>
              <a:t> customers.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Strengthen customer onboarding during the </a:t>
            </a:r>
            <a:r>
              <a:rPr lang="en-US" b="1" dirty="0"/>
              <a:t>first 12 months</a:t>
            </a:r>
            <a:r>
              <a:rPr lang="en-US" dirty="0"/>
              <a:t>.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Review the </a:t>
            </a:r>
            <a:r>
              <a:rPr lang="en-US" b="1" dirty="0"/>
              <a:t>Fiber Optic</a:t>
            </a:r>
            <a:r>
              <a:rPr lang="en-US" dirty="0"/>
              <a:t> service to identify possible issues affecting customer satisfaction.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Encourage customers to use </a:t>
            </a:r>
            <a:r>
              <a:rPr lang="en-US" b="1" dirty="0"/>
              <a:t>automatic payment methods</a:t>
            </a:r>
            <a:r>
              <a:rPr lang="en-US" dirty="0"/>
              <a:t>.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Promote </a:t>
            </a:r>
            <a:r>
              <a:rPr lang="en-US" b="1" dirty="0"/>
              <a:t>Tech Support</a:t>
            </a:r>
            <a:r>
              <a:rPr lang="en-US" dirty="0"/>
              <a:t> services to customers who are not currently subscribed.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95D5C7B-F81A-16A0-77EC-6821D74D7DE2}"/>
              </a:ext>
            </a:extLst>
          </p:cNvPr>
          <p:cNvSpPr txBox="1"/>
          <p:nvPr/>
        </p:nvSpPr>
        <p:spPr>
          <a:xfrm>
            <a:off x="0" y="6492875"/>
            <a:ext cx="92128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i="1" dirty="0"/>
              <a:t>These recommendations can help improve customer retention and reduce churn over time.</a:t>
            </a:r>
          </a:p>
        </p:txBody>
      </p:sp>
    </p:spTree>
    <p:extLst>
      <p:ext uri="{BB962C8B-B14F-4D97-AF65-F5344CB8AC3E}">
        <p14:creationId xmlns:p14="http://schemas.microsoft.com/office/powerpoint/2010/main" val="30298422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BC52EB-5F71-9625-686A-3AC897276D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>
                <a:solidFill>
                  <a:srgbClr val="1E3A8A"/>
                </a:solidFill>
              </a:rPr>
              <a:t>Conclusion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7C7042C-62E3-45C6-776B-229A846481E0}"/>
              </a:ext>
            </a:extLst>
          </p:cNvPr>
          <p:cNvSpPr txBox="1"/>
          <p:nvPr/>
        </p:nvSpPr>
        <p:spPr>
          <a:xfrm>
            <a:off x="963561" y="1494272"/>
            <a:ext cx="10618839" cy="29578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/>
              <a:t>Conclusion</a:t>
            </a:r>
          </a:p>
          <a:p>
            <a:pPr>
              <a:lnSpc>
                <a:spcPct val="150000"/>
              </a:lnSpc>
            </a:pPr>
            <a:r>
              <a:rPr lang="en-US" dirty="0"/>
              <a:t>This analysis identified the main factors influencing customer churn, including contract type, customer tenure, internet service, payment method, and technical support.</a:t>
            </a:r>
          </a:p>
          <a:p>
            <a:pPr>
              <a:lnSpc>
                <a:spcPct val="150000"/>
              </a:lnSpc>
            </a:pPr>
            <a:r>
              <a:rPr lang="en-US" dirty="0"/>
              <a:t>The Power BI dashboard provides a clear overview of customer </a:t>
            </a:r>
            <a:r>
              <a:rPr lang="en-US" dirty="0" err="1"/>
              <a:t>behaviour</a:t>
            </a:r>
            <a:r>
              <a:rPr lang="en-US" dirty="0"/>
              <a:t> and highlights areas where the business can take action to improve customer retention.</a:t>
            </a:r>
          </a:p>
          <a:p>
            <a:pPr>
              <a:lnSpc>
                <a:spcPct val="150000"/>
              </a:lnSpc>
            </a:pPr>
            <a:r>
              <a:rPr lang="en-US" dirty="0"/>
              <a:t>The recommendations from this analysis can support better decision-making and help reduce customer churn over time.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BE5A121-6DA6-EFA8-4B3B-5E95E2BF09A7}"/>
              </a:ext>
            </a:extLst>
          </p:cNvPr>
          <p:cNvSpPr txBox="1"/>
          <p:nvPr/>
        </p:nvSpPr>
        <p:spPr>
          <a:xfrm>
            <a:off x="5004619" y="6396335"/>
            <a:ext cx="27530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rgbClr val="10B981"/>
                </a:solidFill>
              </a:rPr>
              <a:t>Thank You</a:t>
            </a:r>
            <a:endParaRPr lang="en-US" sz="2400" dirty="0">
              <a:solidFill>
                <a:srgbClr val="10B98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898912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365</TotalTime>
  <Words>382</Words>
  <Application>Microsoft Office PowerPoint</Application>
  <PresentationFormat>Widescreen</PresentationFormat>
  <Paragraphs>52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Customer Churn Analysis Dashboard</vt:lpstr>
      <vt:lpstr>Business Problem</vt:lpstr>
      <vt:lpstr>Dataset Overview</vt:lpstr>
      <vt:lpstr>Customer Churn Dashboard </vt:lpstr>
      <vt:lpstr>Key Findings</vt:lpstr>
      <vt:lpstr>Recommendations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Damilola Owolabi</dc:creator>
  <cp:lastModifiedBy>Damilola Owolabi</cp:lastModifiedBy>
  <cp:revision>12</cp:revision>
  <dcterms:created xsi:type="dcterms:W3CDTF">2026-08-05T09:54:08Z</dcterms:created>
  <dcterms:modified xsi:type="dcterms:W3CDTF">2026-08-05T15:59:30Z</dcterms:modified>
</cp:coreProperties>
</file>